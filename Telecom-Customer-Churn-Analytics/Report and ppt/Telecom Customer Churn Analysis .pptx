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8082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16305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840480" cy="384048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work/assets/logo_laur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4592"/>
            <a:ext cx="868680" cy="896112"/>
          </a:xfrm>
          <a:prstGeom prst="rect">
            <a:avLst/>
          </a:prstGeom>
        </p:spPr>
      </p:pic>
      <p:pic>
        <p:nvPicPr>
          <p:cNvPr id="7" name="Image 1" descr="/home/claude/work/assets/logo_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201168"/>
            <a:ext cx="749808" cy="832104"/>
          </a:xfrm>
          <a:prstGeom prst="rect">
            <a:avLst/>
          </a:prstGeom>
        </p:spPr>
      </p:pic>
      <p:pic>
        <p:nvPicPr>
          <p:cNvPr id="8" name="Image 2" descr="/home/claude/work/assets/header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256032"/>
            <a:ext cx="7498080" cy="36484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331720" y="71323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Symbiosis Institute of Technology, Nagpur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•  POWER BI  •  MACHINE LEARNING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77240" y="27432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Prediction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Telecom Company</a:t>
            </a:r>
            <a:endParaRPr lang="en-US" sz="4200" dirty="0"/>
          </a:p>
        </p:txBody>
      </p:sp>
      <p:sp>
        <p:nvSpPr>
          <p:cNvPr id="12" name="Text 7"/>
          <p:cNvSpPr/>
          <p:nvPr/>
        </p:nvSpPr>
        <p:spPr>
          <a:xfrm>
            <a:off x="822960" y="44348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descriptive dashboards to machine-learning-based risk scoring — identifying WHAT is happening, WHY it happens, and WHO is likely to churn.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22960" y="5212080"/>
            <a:ext cx="1280160" cy="0"/>
          </a:xfrm>
          <a:prstGeom prst="line">
            <a:avLst/>
          </a:prstGeom>
          <a:noFill/>
          <a:ln w="31750">
            <a:solidFill>
              <a:srgbClr val="5FC9C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22960" y="53492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|  7th Semester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22960" y="5669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Mukund Kuthe  &amp;  Ravi Kumar Kushwaha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2960" y="5989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23070521082, 23070521116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822960" y="62819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b="1" dirty="0">
                <a:highlight>
                  <a:srgbClr val="C0C0C0"/>
                </a:highlight>
              </a:rPr>
              <a:t>Institute Guide: </a:t>
            </a:r>
            <a:r>
              <a:rPr lang="en-IN" sz="1000" dirty="0">
                <a:highlight>
                  <a:srgbClr val="C0C0C0"/>
                </a:highlight>
              </a:rPr>
              <a:t>Dr. Dharmaveer Chaudhary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126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is a subscription business — revenue depends on keeping customers, not just acquiring them. Yet a large share of subscribers cancel their service every year, and without a systematic way to spot who is leaving and why, retention teams are left reacting after the fact instead of intervening in time.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AIMS TO: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50215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4670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historical customer data to uncover patterns behind churn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05079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9534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contract types, services and pricing linked to higher risk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9943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44398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machine-learning model that predicts which customers are likely to leave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480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99262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those predictions into a risk-ranked list retention teams can act 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1417320"/>
            <a:ext cx="4663440" cy="4800600"/>
          </a:xfrm>
          <a:prstGeom prst="roundRect">
            <a:avLst>
              <a:gd name="adj" fmla="val 1765"/>
            </a:avLst>
          </a:prstGeom>
          <a:solidFill>
            <a:srgbClr val="0E1F3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1737360"/>
            <a:ext cx="640080" cy="640080"/>
          </a:xfrm>
          <a:prstGeom prst="ellipse">
            <a:avLst/>
          </a:prstGeom>
          <a:solidFill>
            <a:srgbClr val="0E8C8C"/>
          </a:solidFill>
          <a:ln/>
        </p:spPr>
      </p:sp>
      <p:pic>
        <p:nvPicPr>
          <p:cNvPr id="16" name="Image 0" descr="/home/claude/work/assets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010" y="1814170"/>
            <a:ext cx="486461" cy="48646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09244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0" y="2606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 Churn Dataset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315200" y="30632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on Kaggle, containing customer demographics, account information, subscribed services and churn status.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7315200" y="43982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315200" y="4754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7315200" y="5175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per customer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315200" y="562356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16305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52360" y="5660136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kaggle.com/datasets/blastchar/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telco-customer-churn/data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Telecom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JOURNEY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Dataset, Three Questions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follows a descriptive → diagnostic → predictive analytics journey across three linked Power BI dashboards.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01568" cy="397764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77440"/>
            <a:ext cx="685800" cy="685800"/>
          </a:xfrm>
          <a:prstGeom prst="ellipse">
            <a:avLst/>
          </a:prstGeom>
          <a:solidFill>
            <a:srgbClr val="16305C"/>
          </a:solidFill>
          <a:ln/>
        </p:spPr>
      </p:sp>
      <p:pic>
        <p:nvPicPr>
          <p:cNvPr id="7" name="Image 0" descr="/home/claude/work/assets/icon_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459736"/>
            <a:ext cx="521208" cy="5212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27832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3520440"/>
            <a:ext cx="27614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happening?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8680" y="4343400"/>
            <a:ext cx="27614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— overall churn scale, churn by contract, internet service and payment method.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24528" y="2057400"/>
            <a:ext cx="3401568" cy="397764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2377440"/>
            <a:ext cx="685800" cy="685800"/>
          </a:xfrm>
          <a:prstGeom prst="ellipse">
            <a:avLst/>
          </a:prstGeom>
          <a:solidFill>
            <a:srgbClr val="0E8C8C"/>
          </a:solidFill>
          <a:ln/>
        </p:spPr>
      </p:sp>
      <p:pic>
        <p:nvPicPr>
          <p:cNvPr id="13" name="Image 1" descr="/home/claude/work/assets/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459736"/>
            <a:ext cx="521208" cy="5212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44568" y="3227832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44568" y="3520440"/>
            <a:ext cx="27614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it happening?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544568" y="4343400"/>
            <a:ext cx="27614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Service Analysis — tenure, monthly charges, tech support and demographic drivers of churn.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900416" y="2057400"/>
            <a:ext cx="3401568" cy="397764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0456" y="2377440"/>
            <a:ext cx="685800" cy="6858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9" name="Image 2" descr="/home/claude/work/assets/icon_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2459736"/>
            <a:ext cx="521208" cy="5212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0456" y="3227832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0456" y="3520440"/>
            <a:ext cx="27614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will churn next?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220456" y="4343400"/>
            <a:ext cx="27614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&amp; Risk — a KNN classification model scores 1,407 customers by churn probability and risk tier.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Telecom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Churn Matters for This Telecom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subscriber costs far more than retaining one. With over 1 in 4 customers churning, even small, well-targeted retention actions translate into meaningful revenue protection.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0779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current scale and shape of customer churn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630168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74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behavioural and service factors driving 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197096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4164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active customers are most likely to leave next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764024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0857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 retention teams with a risk-ranked customer list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49440" y="1325880"/>
            <a:ext cx="4663440" cy="4892040"/>
          </a:xfrm>
          <a:prstGeom prst="roundRect">
            <a:avLst>
              <a:gd name="adj" fmla="val 1765"/>
            </a:avLst>
          </a:prstGeom>
          <a:solidFill>
            <a:srgbClr val="0E1F3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600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0" y="21488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315200" y="27157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 analysed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0" y="32004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26.54%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315200" y="37673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0" y="42519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1,407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315200" y="48188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scored by ML model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0" y="5303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76.19%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315200" y="58704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(KNN) accuracy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Telecom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Live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2606040" cy="73152"/>
          </a:xfrm>
          <a:prstGeom prst="rect">
            <a:avLst/>
          </a:prstGeom>
          <a:solidFill>
            <a:srgbClr val="0E8C8C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65960"/>
            <a:ext cx="566928" cy="566928"/>
          </a:xfrm>
          <a:prstGeom prst="ellipse">
            <a:avLst/>
          </a:prstGeom>
          <a:solidFill>
            <a:srgbClr val="16305C"/>
          </a:solidFill>
          <a:ln/>
        </p:spPr>
      </p:sp>
      <p:pic>
        <p:nvPicPr>
          <p:cNvPr id="7" name="Image 0" descr="/home/claude/work/assets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03" y="2033991"/>
            <a:ext cx="430865" cy="4308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6974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Prepare in Python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3200400"/>
            <a:ext cx="220370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Telco Customer Churn dataset (7,032 customers) was cleaned in Python: columns standardized, TotalCharges converted to numeric, and the data split into four purpose-built tables, including a separate 1,407-row ML scoring set.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3136392" y="3611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19272" y="16916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19272" y="1691640"/>
            <a:ext cx="2606040" cy="73152"/>
          </a:xfrm>
          <a:prstGeom prst="rect">
            <a:avLst/>
          </a:prstGeom>
          <a:solidFill>
            <a:srgbClr val="0E8C8C"/>
          </a:solidFill>
          <a:ln/>
        </p:spPr>
      </p:sp>
      <p:sp>
        <p:nvSpPr>
          <p:cNvPr id="13" name="Shape 10"/>
          <p:cNvSpPr/>
          <p:nvPr/>
        </p:nvSpPr>
        <p:spPr>
          <a:xfrm>
            <a:off x="3575304" y="1965960"/>
            <a:ext cx="566928" cy="566928"/>
          </a:xfrm>
          <a:prstGeom prst="ellipse">
            <a:avLst/>
          </a:prstGeom>
          <a:solidFill>
            <a:srgbClr val="16305C"/>
          </a:solidFill>
          <a:ln/>
        </p:spPr>
      </p:sp>
      <p:pic>
        <p:nvPicPr>
          <p:cNvPr id="14" name="Image 1" descr="/home/claude/work/assets/icon_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335" y="2033991"/>
            <a:ext cx="430865" cy="4308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26974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Model in Power BI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520440" y="3200400"/>
            <a:ext cx="220370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were connected via a single Folder query (not Combine), preserving each table's structure. Text columns were trimmed/cleaned, data types verified, and customerID relationships built between Customer_Details, Customer_Services and Churn_Analysis.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5907024" y="3611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089904" y="16916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89904" y="1691640"/>
            <a:ext cx="2606040" cy="7315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0" name="Shape 16"/>
          <p:cNvSpPr/>
          <p:nvPr/>
        </p:nvSpPr>
        <p:spPr>
          <a:xfrm>
            <a:off x="6345936" y="196596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1" name="Image 2" descr="/home/claude/work/assets/icon_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3967" y="2033991"/>
            <a:ext cx="430865" cy="43086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91072" y="26974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Predict with ML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291072" y="3200400"/>
            <a:ext cx="220370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classification models — Logistic Regression, KNN, Decision Tree, Random Forest and SVM — were compared on Accuracy, Precision, Recall, F1 and ROC-AUC. K-Nearest Neighbors was selected as the best-performing model.</a:t>
            </a:r>
            <a:endParaRPr lang="en-US" sz="1080" dirty="0"/>
          </a:p>
        </p:txBody>
      </p:sp>
      <p:sp>
        <p:nvSpPr>
          <p:cNvPr id="24" name="Text 19"/>
          <p:cNvSpPr/>
          <p:nvPr/>
        </p:nvSpPr>
        <p:spPr>
          <a:xfrm>
            <a:off x="8677656" y="3611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8860536" y="16916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860536" y="1691640"/>
            <a:ext cx="2606040" cy="73152"/>
          </a:xfrm>
          <a:prstGeom prst="rect">
            <a:avLst/>
          </a:prstGeom>
          <a:solidFill>
            <a:srgbClr val="0E8C8C"/>
          </a:solidFill>
          <a:ln/>
        </p:spPr>
      </p:sp>
      <p:sp>
        <p:nvSpPr>
          <p:cNvPr id="27" name="Shape 22"/>
          <p:cNvSpPr/>
          <p:nvPr/>
        </p:nvSpPr>
        <p:spPr>
          <a:xfrm>
            <a:off x="9116568" y="1965960"/>
            <a:ext cx="566928" cy="566928"/>
          </a:xfrm>
          <a:prstGeom prst="ellipse">
            <a:avLst/>
          </a:prstGeom>
          <a:solidFill>
            <a:srgbClr val="16305C"/>
          </a:solidFill>
          <a:ln/>
        </p:spPr>
      </p:sp>
      <p:pic>
        <p:nvPicPr>
          <p:cNvPr id="28" name="Image 3" descr="/home/claude/work/assets/icon_bar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4599" y="2033991"/>
            <a:ext cx="430865" cy="43086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061704" y="26974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Visualize in 3 Pages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9061704" y="3200400"/>
            <a:ext cx="220370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were delivered as three linked report pages — Executive Overview, Customer &amp; Service Analysis, and ML Prediction &amp; Risk — each answering a progressively deeper business question.</a:t>
            </a:r>
            <a:endParaRPr lang="en-US" sz="1080" dirty="0"/>
          </a:p>
        </p:txBody>
      </p:sp>
      <p:sp>
        <p:nvSpPr>
          <p:cNvPr id="31" name="Text 25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Telecom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Transformation in Power Query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modelling, every table was connected, profiled and cleaned inside Power Query — screenshots below are from the actual project file.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6040" cy="4160520"/>
          </a:xfrm>
          <a:prstGeom prst="roundRect">
            <a:avLst>
              <a:gd name="adj" fmla="val 2456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65960"/>
            <a:ext cx="2514600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/home/claude/work/assets/dt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84130"/>
            <a:ext cx="2386584" cy="10198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95020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Connect the source folder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3232" y="4434840"/>
            <a:ext cx="227685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 → Folder → Transform Data. Files are kept as separate queries rather than combined, since each CSV has a different structure.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3319272" y="1874520"/>
            <a:ext cx="2606040" cy="4160520"/>
          </a:xfrm>
          <a:prstGeom prst="roundRect">
            <a:avLst>
              <a:gd name="adj" fmla="val 2456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64992" y="1965960"/>
            <a:ext cx="2514600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1" descr="/home/claude/work/assets/dt_qua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698420"/>
            <a:ext cx="2386584" cy="39131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83864" y="395020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Profile every column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83864" y="4434840"/>
            <a:ext cx="227685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quality, distribution and profile views (on the entire dataset) surface missing values, errors and duplicate/invalid entries.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6089904" y="1874520"/>
            <a:ext cx="2606040" cy="4160520"/>
          </a:xfrm>
          <a:prstGeom prst="roundRect">
            <a:avLst>
              <a:gd name="adj" fmla="val 2456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35624" y="1965960"/>
            <a:ext cx="2514600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2" descr="/home/claude/work/assets/dt_tr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849" y="2002536"/>
            <a:ext cx="1964150" cy="1783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4496" y="395020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Clean text columns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254496" y="4434840"/>
            <a:ext cx="227685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Format → Trim, then Clean, is applied to categorical columns to strip stray spaces and non-printing characters.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8860536" y="1874520"/>
            <a:ext cx="2606040" cy="4160520"/>
          </a:xfrm>
          <a:prstGeom prst="roundRect">
            <a:avLst>
              <a:gd name="adj" fmla="val 2456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906256" y="1965960"/>
            <a:ext cx="2514600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3" descr="/home/claude/work/assets/dt_ty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8234" y="2002536"/>
            <a:ext cx="1890644" cy="1783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25128" y="395020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Fix data types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025128" y="4434840"/>
            <a:ext cx="227685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fields (tenure, MonthlyCharges, TotalCharges) are set to Whole Number / Decimal; categorical columns are kept as Text.</a:t>
            </a:r>
            <a:endParaRPr lang="en-US" sz="980" dirty="0"/>
          </a:p>
        </p:txBody>
      </p:sp>
      <p:sp>
        <p:nvSpPr>
          <p:cNvPr id="25" name="Text 19"/>
          <p:cNvSpPr/>
          <p:nvPr/>
        </p:nvSpPr>
        <p:spPr>
          <a:xfrm>
            <a:off x="548640" y="626364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captured from the project's own Power BI / Power Query session.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Telecom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Relational Data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tables connect through a single key — customerID — keeping demographic, service, churn-outcome and ML-prediction data cleanly separated yet fully queryable.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92608" cy="292608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23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3500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Customer_Details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26609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contract, billing (7,032 rows)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292608" cy="292608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00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1272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Customer_Services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34381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internet &amp; add-on services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292608" cy="292608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77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9044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Churn_Analysis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05840" y="42153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churn outcome (0 / 1)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54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6817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Telecom_ML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05840" y="499262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1,407-row KNN prediction &amp; probability set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9480" y="1234440"/>
            <a:ext cx="4434840" cy="502920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2" name="Image 0" descr="/home/claude/work/assets/data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463040"/>
            <a:ext cx="4160520" cy="28072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406640" y="443484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Power BI Model View — relationships built on customerID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Telecom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— DESCRIPTIVE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Answering: what is happening with customer churn?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6276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62763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792" y="204825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67712" y="1572768"/>
            <a:ext cx="16276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0864" y="162763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40864" y="204825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86784" y="1572768"/>
            <a:ext cx="16276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162763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26.54%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59936" y="204825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05856" y="1572768"/>
            <a:ext cx="16276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162763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5,174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79008" y="204825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560320"/>
            <a:ext cx="6830568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0" dist="381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8" name="Image 0" descr="/home/claude/work/assets/dash_execu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040"/>
            <a:ext cx="6784848" cy="36118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6327648"/>
            <a:ext cx="62969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Power BI report page (screenshot)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726680" y="1572768"/>
            <a:ext cx="3886200" cy="4828032"/>
          </a:xfrm>
          <a:prstGeom prst="roundRect">
            <a:avLst>
              <a:gd name="adj" fmla="val 1882"/>
            </a:avLst>
          </a:prstGeom>
          <a:solidFill>
            <a:srgbClr val="0E1F3C"/>
          </a:solidFill>
          <a:ln/>
        </p:spPr>
      </p:sp>
      <p:sp>
        <p:nvSpPr>
          <p:cNvPr id="21" name="Text 18"/>
          <p:cNvSpPr/>
          <p:nvPr/>
        </p:nvSpPr>
        <p:spPr>
          <a:xfrm>
            <a:off x="8001000" y="17830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001000" y="2267712"/>
            <a:ext cx="91440" cy="9144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0" y="2139696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42.7% — far above 1-year and 2-year contracts.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001000" y="3108960"/>
            <a:ext cx="91440" cy="9144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0" y="2980944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subscribers show the highest churn share of any internet service, at 41.89%.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001000" y="3950208"/>
            <a:ext cx="91440" cy="9144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0" y="3822192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is the payment method most associated with churned customers.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001000" y="4791456"/>
            <a:ext cx="91440" cy="9144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0" y="466344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concentrated, not evenly spread — pointing to clear priority segments.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Telecom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— DIAGNOSTIC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Service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Answering: what factors are associated with churn?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6276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62763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26.9%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792" y="204825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churn rate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67712" y="1572768"/>
            <a:ext cx="16276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0864" y="162763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26.2%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40864" y="204825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churn rate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86784" y="1572768"/>
            <a:ext cx="16276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162763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59936" y="204825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in month 1 tenure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05856" y="1572768"/>
            <a:ext cx="16276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162763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33.7%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79008" y="204825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Churn, $60–$90 charges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560320"/>
            <a:ext cx="6830568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0" dist="381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8" name="Image 0" descr="/home/claude/work/assets/dash_custo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040"/>
            <a:ext cx="6711696" cy="36118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6327648"/>
            <a:ext cx="62858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Power BI report page (screenshot)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726680" y="1572768"/>
            <a:ext cx="3886200" cy="4828032"/>
          </a:xfrm>
          <a:prstGeom prst="roundRect">
            <a:avLst>
              <a:gd name="adj" fmla="val 1882"/>
            </a:avLst>
          </a:prstGeom>
          <a:solidFill>
            <a:srgbClr val="0E1F3C"/>
          </a:solidFill>
          <a:ln/>
        </p:spPr>
      </p:sp>
      <p:sp>
        <p:nvSpPr>
          <p:cNvPr id="21" name="Text 18"/>
          <p:cNvSpPr/>
          <p:nvPr/>
        </p:nvSpPr>
        <p:spPr>
          <a:xfrm>
            <a:off x="8001000" y="17830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001000" y="2267712"/>
            <a:ext cx="91440" cy="9144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0" y="2139696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shows almost no difference in churn — not a meaningful driver.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001000" y="3108960"/>
            <a:ext cx="91440" cy="9144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0" y="2980944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Tech Support make up the largest churned group by far.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001000" y="3950208"/>
            <a:ext cx="91440" cy="9144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0" y="3822192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highest for brand-new customers and falls steadily as tenure grows.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001000" y="4791456"/>
            <a:ext cx="91440" cy="9144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0" y="466344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monthly charges ($60–$90+) correlate with sharply higher churn rates.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Telecom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Classification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algorithms were trained and compared on the same customer features — the winner was chosen on balanced performance, not accuracy alone.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1F4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3055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70048" y="19659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E1F3C"/>
          </a:solidFill>
          <a:ln w="12700">
            <a:solidFill>
              <a:srgbClr val="0E1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61488" y="213055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90088" y="3008376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2990088" y="300837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91456" y="19659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1F4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213055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12864" y="19659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1F4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04304" y="213055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34272" y="19659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1F4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25712" y="213055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(SVM)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on: Accuracy · Precision · Recall · F1-Score · ROC-AUC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16305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3708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MODEL PERFORMANCE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4754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76.19%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68680" y="5349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80360" y="4754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54.96%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880360" y="5349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92040" y="4754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57.75%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892040" y="5349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03720" y="4754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56.32%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03720" y="5349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15400" y="4754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78.59%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915400" y="5349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Telecom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— PREDICTIVE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Prediction &amp; Risk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Answering: who is likely to churn next? (KNN model, 1,407 customers)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6276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62763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792" y="204825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to churn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67712" y="1572768"/>
            <a:ext cx="16276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0864" y="162763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40864" y="204825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customers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86784" y="1572768"/>
            <a:ext cx="16276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162763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29.42%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59936" y="204825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churn probability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05856" y="1572768"/>
            <a:ext cx="16276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162763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76.19%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79008" y="204825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560320"/>
            <a:ext cx="688669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0" dist="381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8" name="Image 0" descr="/home/claude/work/assets/dash_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040"/>
            <a:ext cx="6840970" cy="36118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6327648"/>
            <a:ext cx="62923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Power BI report page (screenshot)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726680" y="1572768"/>
            <a:ext cx="3886200" cy="4828032"/>
          </a:xfrm>
          <a:prstGeom prst="roundRect">
            <a:avLst>
              <a:gd name="adj" fmla="val 1882"/>
            </a:avLst>
          </a:prstGeom>
          <a:solidFill>
            <a:srgbClr val="0E1F3C"/>
          </a:solidFill>
          <a:ln/>
        </p:spPr>
      </p:sp>
      <p:sp>
        <p:nvSpPr>
          <p:cNvPr id="21" name="Text 18"/>
          <p:cNvSpPr/>
          <p:nvPr/>
        </p:nvSpPr>
        <p:spPr>
          <a:xfrm>
            <a:off x="8001000" y="17830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001000" y="2267712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0" y="2139696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of predicted churners are on month-to-month contracts — the #1 retention target.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001000" y="3108960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0" y="2980944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customers have the highest predicted churn: 292 customers at 45.91% avg. probability.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001000" y="3950208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0" y="3822192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customers (13.15%) are flagged high-risk and warrant immediate outreach.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001000" y="4791456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0" y="466344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58.64% of the base is low-risk — retention spend can be focused, not broad.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Telecom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9656"/>
            <a:ext cx="621792" cy="621792"/>
          </a:xfrm>
          <a:prstGeom prst="ellipse">
            <a:avLst/>
          </a:prstGeom>
          <a:solidFill>
            <a:srgbClr val="16305C"/>
          </a:solidFill>
          <a:ln/>
        </p:spPr>
      </p:sp>
      <p:pic>
        <p:nvPicPr>
          <p:cNvPr id="6" name="Image 0" descr="/home/claude/work/assets/icon_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" y="1894271"/>
            <a:ext cx="472562" cy="472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2821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749040" y="1719072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26.54% of customers have churned — a material, recurring revenue loss.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026664"/>
            <a:ext cx="621792" cy="621792"/>
          </a:xfrm>
          <a:prstGeom prst="ellipse">
            <a:avLst/>
          </a:prstGeom>
          <a:solidFill>
            <a:srgbClr val="0E8C8C"/>
          </a:solidFill>
          <a:ln/>
        </p:spPr>
      </p:sp>
      <p:pic>
        <p:nvPicPr>
          <p:cNvPr id="11" name="Image 1" descr="/home/claude/work/assets/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55" y="3101279"/>
            <a:ext cx="472562" cy="4725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9352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749040" y="2926080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contracts, Fiber Optic service and no Tech Support consistently over-index on churn.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014216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233672"/>
            <a:ext cx="621792" cy="621792"/>
          </a:xfrm>
          <a:prstGeom prst="ellipse">
            <a:avLst/>
          </a:prstGeom>
          <a:solidFill>
            <a:srgbClr val="0E8C8C"/>
          </a:solidFill>
          <a:ln/>
        </p:spPr>
      </p:sp>
      <p:pic>
        <p:nvPicPr>
          <p:cNvPr id="16" name="Image 2" descr="/home/claude/work/assets/icon_tre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855" y="4308287"/>
            <a:ext cx="472562" cy="4725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422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749040" y="4133088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front-loaded: new customers churn far more than long-tenured ones, and higher bills raise risk further.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5221224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5440680"/>
            <a:ext cx="621792" cy="621792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1" name="Image 3" descr="/home/claude/work/assets/icon_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855" y="5515295"/>
            <a:ext cx="472562" cy="4725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749040" y="5340096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KNN model (76.19% accuracy, 78.59% ROC-AUC) identifies 393 likely churners, 185 of them high-risk.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Telecom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Insight into Retention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6305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0E8C8C"/>
          </a:solidFill>
          <a:ln/>
        </p:spPr>
      </p:sp>
      <p:pic>
        <p:nvPicPr>
          <p:cNvPr id="6" name="Image 0" descr="/home/claude/work/assets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20372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4767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the 185 high-risk customers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the ML-flagged high-risk list to retention teams for proactive, personalized outreach this quarter.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6305C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965960"/>
            <a:ext cx="594360" cy="594360"/>
          </a:xfrm>
          <a:prstGeom prst="ellipse">
            <a:avLst/>
          </a:prstGeom>
          <a:solidFill>
            <a:srgbClr val="0E8C8C"/>
          </a:solidFill>
          <a:ln/>
        </p:spPr>
      </p:sp>
      <p:pic>
        <p:nvPicPr>
          <p:cNvPr id="11" name="Image 1" descr="/home/claude/work/assets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563" y="203728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4767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Incentivize contract upgrades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92240" y="26974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targeted discounts or perks to move month-to-month customers onto 1- or 2-year plans, where churn drops to 2.8%.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6305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89120"/>
            <a:ext cx="594360" cy="594360"/>
          </a:xfrm>
          <a:prstGeom prst="ellipse">
            <a:avLst/>
          </a:prstGeom>
          <a:solidFill>
            <a:srgbClr val="0E8C8C"/>
          </a:solidFill>
          <a:ln/>
        </p:spPr>
      </p:sp>
      <p:pic>
        <p:nvPicPr>
          <p:cNvPr id="16" name="Image 2" descr="/home/claude/work/assets/icon_sett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" y="446044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37083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 Tech Support proactively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" y="51206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or bundle Tech Support with Fiber Optic plans — both are strongly linked to higher churn when absent.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41148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6305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389120"/>
            <a:ext cx="594360" cy="594360"/>
          </a:xfrm>
          <a:prstGeom prst="ellipse">
            <a:avLst/>
          </a:prstGeom>
          <a:solidFill>
            <a:srgbClr val="0E8C8C"/>
          </a:solidFill>
          <a:ln/>
        </p:spPr>
      </p:sp>
      <p:pic>
        <p:nvPicPr>
          <p:cNvPr id="21" name="Image 3" descr="/home/claude/work/assets/icon_activ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3563" y="446044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37083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first 90 days closely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492240" y="51206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early-tenure onboarding and check-in program, since churn risk is highest in customers' first months.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Telecom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16305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657600"/>
            <a:ext cx="4572000" cy="457200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for a Telecom Company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AE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dashboards + a KNN predictive model, working together to tell retention teams what is happening, why, and who to call next.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1555</Words>
  <Application>Microsoft Office PowerPoint</Application>
  <PresentationFormat>Widescreen</PresentationFormat>
  <Paragraphs>233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sandesh kumar</cp:lastModifiedBy>
  <cp:revision>2</cp:revision>
  <dcterms:created xsi:type="dcterms:W3CDTF">2026-09-05T08:00:38Z</dcterms:created>
  <dcterms:modified xsi:type="dcterms:W3CDTF">2026-10-16T18:13:28Z</dcterms:modified>
</cp:coreProperties>
</file>